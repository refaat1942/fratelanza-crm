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Controlled Medications &amp; Legal Responsibilities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0"/>
            <a:ext cx="8046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الأدوية المراقبة والمسؤوليات القانونية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0"/>
            <a:ext cx="8046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Arial"/>
              </a:rPr>
              <a:t>Pharmacy Team Training — Module 10
تدريب فريق الصيدلية — الوحدة ١٠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9144000" cy="146304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651760"/>
            <a:ext cx="8229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Learning Objectives</a:t>
            </a:r>
          </a:p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أهداف التعلم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By the end of this session you will:</a:t>
            </a:r>
          </a:p>
          <a:p>
            <a:r>
              <a:rPr sz="1800" b="1">
                <a:solidFill>
                  <a:srgbClr val="FFFFFF"/>
                </a:solidFill>
                <a:latin typeface="Arial"/>
              </a:rPr>
              <a:t>بنهاية هذه الجلسة ستكون قادراً على: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Identify controlled and scheduled medications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تحديد الأدوية المراقبة والمجدولة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Follow legal requirements for controlled drugs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اتباع المتطلبات القانونية للأدوية المراقبة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Maintain required records and documentation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الحفاظ على السجلات والتوثيق المطلوب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Understand legal consequences of violations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فهم العواقب القانونية للمخالفات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9144000" cy="146304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651760"/>
            <a:ext cx="8229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Controlled Medications</a:t>
            </a:r>
          </a:p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الأدوية المراقبة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What are controlled drugs?</a:t>
            </a:r>
          </a:p>
          <a:p>
            <a:r>
              <a:rPr sz="1800" b="1">
                <a:solidFill>
                  <a:srgbClr val="FFFFFF"/>
                </a:solidFill>
                <a:latin typeface="Arial"/>
              </a:rPr>
              <a:t>ما هي الأدوية المراقبة؟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Medications with potential for abuse or dependence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أدوية لها إمكانية إساءة استخدام أو إدمان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Regulated by Egyptian Drug Authority (EDA)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منظمة من هيئة الدواء المصرية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Require special handling, storage, and records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تتطلب تعاملاً وتخزيناً وسجلات خاصة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Examples: strong painkillers, sedatives, stimulants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أمثلة: مسكنات قوية، مهدئات، منشطات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Storage requirements</a:t>
            </a:r>
          </a:p>
          <a:p>
            <a:r>
              <a:rPr sz="1800" b="1">
                <a:solidFill>
                  <a:srgbClr val="FFFFFF"/>
                </a:solidFill>
                <a:latin typeface="Arial"/>
              </a:rPr>
              <a:t>متطلبات التخزين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Locked cabinet — pharmacist holds key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خزانة مقفلة — الصيدلي يحتفظ بالمفتاح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Separate from regular stock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منفصلة عن المخزون العادي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Access log: who opened, when, why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سجل الوصول: من فتح، متى، لماذا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Daily count of controlled stock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جرد يومي للمخزون المراقب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9144000" cy="146304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651760"/>
            <a:ext cx="8229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Legal Requirements</a:t>
            </a:r>
          </a:p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المتطلبات القانونية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Prescription requirements for controlled drugs</a:t>
            </a:r>
          </a:p>
          <a:p>
            <a:r>
              <a:rPr sz="1800" b="1">
                <a:solidFill>
                  <a:srgbClr val="FFFFFF"/>
                </a:solidFill>
                <a:latin typeface="Arial"/>
              </a:rPr>
              <a:t>متطلبات الروشتة للأدوية المراقبة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Valid prescription with doctor license number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روشتة صالحة برقم ترخيص الطبيب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Patient full name and address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الاسم الكامل وعنوان المريض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Exact quantity in words and numbers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الكمية بالحروف والأرقام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Cannot be refilled without new prescription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لا يُعاد صرفها بدون روشتة جديدة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Pharmacist must verify and sign dispensing record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الصيدلي يتحقق ويوقع على سجل الصرف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Record keeping</a:t>
            </a:r>
          </a:p>
          <a:p>
            <a:r>
              <a:rPr sz="1800" b="1">
                <a:solidFill>
                  <a:srgbClr val="FFFFFF"/>
                </a:solidFill>
                <a:latin typeface="Arial"/>
              </a:rPr>
              <a:t>حفظ السجلات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Controlled drug register: date, patient, drug, qty, prescriber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سجل الأدوية المراقبة: تاريخ، مريض، دواء، كمية، واصف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Keep records for minimum 2 years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احتفظ بالسجلات لمدة لا تقل عن سنتين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Purchase invoices from authorized suppliers only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فواتير شراء من موردين معتمدين فقط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Report discrepancies immediately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أبلغ عن أي فروقات فوراً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9144000" cy="146304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651760"/>
            <a:ext cx="8229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Legal Consequences</a:t>
            </a:r>
          </a:p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العواقب القانونية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Violations and penalties</a:t>
            </a:r>
          </a:p>
          <a:p>
            <a:r>
              <a:rPr sz="1800" b="1">
                <a:solidFill>
                  <a:srgbClr val="FFFFFF"/>
                </a:solidFill>
                <a:latin typeface="Arial"/>
              </a:rPr>
              <a:t>المخالفات والعقوبات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Selling without prescription: fine + license suspension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البيع بدون روشتة: غرامة + تعليق ترخيص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Selling expired drugs: criminal charges possible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بيع أدوية منتهية: قد تُوجه اتهامات جنائية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Counterfeit drugs: imprisonment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أدوية مقلدة: سجن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Breach of patient confidentiality: legal liability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انتهاك سرية المريض: مسؤولية قانونية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Your personal responsibility</a:t>
            </a:r>
          </a:p>
          <a:p>
            <a:r>
              <a:rPr sz="1800" b="1">
                <a:solidFill>
                  <a:srgbClr val="FFFFFF"/>
                </a:solidFill>
                <a:latin typeface="Arial"/>
              </a:rPr>
              <a:t>مسؤوليتك الشخصية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Every team member is accountable for their actions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كل عضو في الفريق مسؤول عن أفعاله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Report illegal requests from managers or colleagues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أبلغ عن طلبات غير قانونية من مديرين أو زملاء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When in doubt, ask the pharmacist in charge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عند الشك، اسأل الصيدلي المسؤول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Protect your license and reputation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احمِ ترخيصك وسمعتك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9144000" cy="146304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651760"/>
            <a:ext cx="8229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Counterfeit Drug Awareness</a:t>
            </a:r>
          </a:p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الوعي بالأدوية المقلدة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How to spot counterfeit medications</a:t>
            </a:r>
          </a:p>
          <a:p>
            <a:r>
              <a:rPr sz="1800" b="1">
                <a:solidFill>
                  <a:srgbClr val="FFFFFF"/>
                </a:solidFill>
                <a:latin typeface="Arial"/>
              </a:rPr>
              <a:t>كيف تكتشف الأدوية المقلدة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Buy only from authorized distributors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اشترِ فقط من موزعين معتمدين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Check packaging quality: printing, seals, holograms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افحص جودة العبوة: طباعة، أختام، هولوجرام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Verify batch numbers and expiry dates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تحقق من أرقام التشغيلة وتواريخ الصلاحية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Unusually low prices are a red flag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أسعار منخفضة بشكل غير عادي إنذار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Report suspected counterfeits to EDA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أبلغ عن المشتبه بها لهيئة الدواء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Questions &amp; Discussion</a:t>
            </a:r>
          </a:p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أسئلة ومناقشة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